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286000"/>
            <a:ext cx="164592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arxivLens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6" y="32918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系統介紹   </a:t>
            </a:r>
            <a:r>
              <a:rPr sz="180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System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6" y="41148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arXiv / HBR 論文聚合閱讀器 — AI 摘要、關鍵字評分、多語翻譯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5532120"/>
            <a:ext cx="9692640" cy="12801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566928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Next.js 16 · React 19 · Spring Boot 4 · Java 25 · TiDB Cloud · Google Gemini 2.5 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00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系統架構  </a:t>
            </a:r>
            <a:r>
              <a:rPr sz="150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5720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arxivLens — arXiv / HBR 論文聚合閱讀器，含 AI 摘要、關鍵字評分與多語翻譯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331720" cy="1325880"/>
          </a:xfrm>
          <a:prstGeom prst="round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使用者瀏覽器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Browser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桌機 / 行動裝置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48840"/>
            <a:ext cx="2331720" cy="1325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前端 Frontend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Vercel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Next.js 16 · React 19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TypeScript · Tailwind 4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Zustand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148840"/>
            <a:ext cx="233172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後端 Backend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Render (Docker)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Spring Boot 4 · Java 25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Spring Security · JWT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2148840"/>
            <a:ext cx="2331720" cy="1325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資料庫 Database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TiDB Cloud Serverless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(MySQL 相容)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本地開發用 MySQL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48840"/>
            <a:ext cx="3200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148840"/>
            <a:ext cx="3200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48840"/>
            <a:ext cx="3200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493008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HTTPS · REST / JSON ·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020" y="3429000"/>
            <a:ext cx="365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69080"/>
            <a:ext cx="10424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外部整合 External integrations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480560"/>
            <a:ext cx="1938528" cy="713232"/>
          </a:xfrm>
          <a:prstGeom prst="round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arXiv Atom API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論文同步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16936" y="4480560"/>
            <a:ext cx="1938528" cy="713232"/>
          </a:xfrm>
          <a:prstGeom prst="round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HBR RSS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文章來源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65192" y="4480560"/>
            <a:ext cx="1938528" cy="713232"/>
          </a:xfrm>
          <a:prstGeom prst="round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Google Gemini 2.5 Flash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摘要 / 翻譯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4480560"/>
            <a:ext cx="1938528" cy="713232"/>
          </a:xfrm>
          <a:prstGeom prst="round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Resend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Email 通知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4480560"/>
            <a:ext cx="1938528" cy="713232"/>
          </a:xfrm>
          <a:prstGeom prst="round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GitHub Actions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每 6 小時 cron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部署：Vercel（前端）· Render（後端）· TiDB Cloud（資料庫）— 全部免費方案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系統特色  </a:t>
            </a:r>
            <a:r>
              <a:rPr sz="150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5720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▍內容與閱讀  </a:t>
            </a:r>
            <a:r>
              <a:rPr sz="110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Feed &amp;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9496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Latest 聚合 arXiv + HBR，依主題 / 天數過濾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關鍵字相關性評分，重點論文一眼可見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交叉分類標示（cs.CV 論文掛 cs.AI 也會顯示 +cs.AI）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Library 本地快取 PDF，內建檢視器（讀取時 loading 游標）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▍AI 與多語  </a:t>
            </a:r>
            <a:r>
              <a:rPr sz="110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AI &amp; i18n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53949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Gemini 2.5 Flash：依需求生成 AI 摘要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標題 / 摘要翻譯 zh-TW · zh-CN · ja · 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每篇翻譯快取於 DB，整頁批次查詢（省連線）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▍趨勢分析  </a:t>
            </a:r>
            <a:r>
              <a:rPr sz="110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539496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12 個月主題堆疊長條圖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採 arXiv 官方總量（opensearch totalResults）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▍帳號與安全  </a:t>
            </a:r>
            <a:r>
              <a:rPr sz="110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Auth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53949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Email / 密碼登入 + JWT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兩階段驗證 2FA（TOTP）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Sign in with Google / Apple、密碼重設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9260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▍維運自動化  </a:t>
            </a:r>
            <a:r>
              <a:rPr sz="110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337560"/>
            <a:ext cx="53949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Admin：來源 / 主題 / 設定、深度 resync、backfill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每 6 小時自動同步 + 郵件通知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200" b="0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外部 cron 觸發（克服 Render 免費方案休眠）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資料流  </a:t>
            </a:r>
            <a:r>
              <a:rPr sz="150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5720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①  同步流程 Sync — 每 6 小時自動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508760" cy="1051560"/>
          </a:xfrm>
          <a:prstGeom prst="round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GitHub Actions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cron 0 */6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1783080"/>
            <a:ext cx="310896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783080"/>
            <a:ext cx="1508760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/api/cron/arxiv-sync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token 驗證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1783080"/>
            <a:ext cx="310896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783080"/>
            <a:ext cx="1508760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ArxivSyncService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分頁・退避重試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6712" y="1783080"/>
            <a:ext cx="310896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1508760" cy="1051560"/>
          </a:xfrm>
          <a:prstGeom prst="round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arXiv Atom API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lastUpdatedDate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1783080"/>
            <a:ext cx="310896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783080"/>
            <a:ext cx="1508760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逐頁交易 upsert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categories 回填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783080"/>
            <a:ext cx="310896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783080"/>
            <a:ext cx="1508760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TiDB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papers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1580" y="278892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840480" cy="640080"/>
          </a:xfrm>
          <a:prstGeom prst="round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Resend 寄出摘要信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新增 / 跳過 / 錯誤統計 → hychanga@gmail.com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②  閱讀流程 Read — 即時依需求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00600"/>
            <a:ext cx="24003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使用者 / Browser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Next.js Feed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2092" y="4800600"/>
            <a:ext cx="31089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4700" y="4800600"/>
            <a:ext cx="240030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GET /api/papers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主題 / 天數 / 分頁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6712" y="4800600"/>
            <a:ext cx="31089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4800600"/>
            <a:ext cx="240030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TiDB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查詢已同步論文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1332" y="4800600"/>
            <a:ext cx="31089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63940" y="4800600"/>
            <a:ext cx="24003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18181B"/>
                </a:solidFill>
                <a:latin typeface="Microsoft JhengHei"/>
                <a:ea typeface="Microsoft JhengHei"/>
                <a:cs typeface="Microsoft JhengHei"/>
              </a:rPr>
              <a:t>論文卡片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評分 · 翻譯 · 收藏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71717A"/>
                </a:solidFill>
                <a:latin typeface="Microsoft JhengHei"/>
                <a:ea typeface="Microsoft JhengHei"/>
                <a:cs typeface="Microsoft JhengHei"/>
              </a:rPr>
              <a:t>翻譯 / 摘要：批次 GET /api/papers/translations → 命中 DB 快取，否則呼叫 Gemini 生成後寫回快取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